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Barlow ExtraLight"/>
      <p:regular r:id="rId20"/>
      <p:bold r:id="rId21"/>
      <p:italic r:id="rId22"/>
      <p:boldItalic r:id="rId23"/>
    </p:embeddedFont>
    <p:embeddedFont>
      <p:font typeface="Hepta Slab Medium"/>
      <p:regular r:id="rId24"/>
      <p:bold r:id="rId25"/>
    </p:embeddedFont>
    <p:embeddedFont>
      <p:font typeface="Hepta Slab Light"/>
      <p:regular r:id="rId26"/>
      <p:bold r:id="rId27"/>
    </p:embeddedFont>
    <p:embeddedFont>
      <p:font typeface="Hepta Slab"/>
      <p:regular r:id="rId28"/>
      <p:bold r:id="rId29"/>
    </p:embeddedFont>
    <p:embeddedFont>
      <p:font typeface="Barlow Medium"/>
      <p:regular r:id="rId30"/>
      <p:bold r:id="rId31"/>
      <p:italic r:id="rId32"/>
      <p:boldItalic r:id="rId33"/>
    </p:embeddedFont>
    <p:embeddedFont>
      <p:font typeface="Barlow Light"/>
      <p:regular r:id="rId34"/>
      <p:bold r:id="rId35"/>
      <p:italic r:id="rId36"/>
      <p:boldItalic r:id="rId37"/>
    </p:embeddedFont>
    <p:embeddedFont>
      <p:font typeface="Barlow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italic.fntdata"/><Relationship Id="rId20" Type="http://schemas.openxmlformats.org/officeDocument/2006/relationships/font" Target="fonts/BarlowExtraLight-regular.fntdata"/><Relationship Id="rId41" Type="http://schemas.openxmlformats.org/officeDocument/2006/relationships/font" Target="fonts/Barlow-boldItalic.fntdata"/><Relationship Id="rId22" Type="http://schemas.openxmlformats.org/officeDocument/2006/relationships/font" Target="fonts/BarlowExtraLight-italic.fntdata"/><Relationship Id="rId21" Type="http://schemas.openxmlformats.org/officeDocument/2006/relationships/font" Target="fonts/BarlowExtraLight-bold.fntdata"/><Relationship Id="rId24" Type="http://schemas.openxmlformats.org/officeDocument/2006/relationships/font" Target="fonts/HeptaSlabMedium-regular.fntdata"/><Relationship Id="rId23" Type="http://schemas.openxmlformats.org/officeDocument/2006/relationships/font" Target="fonts/BarlowExtra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ptaSlabLight-regular.fntdata"/><Relationship Id="rId25" Type="http://schemas.openxmlformats.org/officeDocument/2006/relationships/font" Target="fonts/HeptaSlabMedium-bold.fntdata"/><Relationship Id="rId28" Type="http://schemas.openxmlformats.org/officeDocument/2006/relationships/font" Target="fonts/HeptaSlab-regular.fntdata"/><Relationship Id="rId27" Type="http://schemas.openxmlformats.org/officeDocument/2006/relationships/font" Target="fonts/HeptaSlab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ptaSlab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Medium-bold.fntdata"/><Relationship Id="rId30" Type="http://schemas.openxmlformats.org/officeDocument/2006/relationships/font" Target="fonts/BarlowMedium-regular.fntdata"/><Relationship Id="rId11" Type="http://schemas.openxmlformats.org/officeDocument/2006/relationships/slide" Target="slides/slide5.xml"/><Relationship Id="rId33" Type="http://schemas.openxmlformats.org/officeDocument/2006/relationships/font" Target="fonts/Barlow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BarlowMedium-italic.fntdata"/><Relationship Id="rId13" Type="http://schemas.openxmlformats.org/officeDocument/2006/relationships/slide" Target="slides/slide7.xml"/><Relationship Id="rId35" Type="http://schemas.openxmlformats.org/officeDocument/2006/relationships/font" Target="fonts/BarlowLight-bold.fntdata"/><Relationship Id="rId12" Type="http://schemas.openxmlformats.org/officeDocument/2006/relationships/slide" Target="slides/slide6.xml"/><Relationship Id="rId34" Type="http://schemas.openxmlformats.org/officeDocument/2006/relationships/font" Target="fonts/BarlowLight-regular.fntdata"/><Relationship Id="rId15" Type="http://schemas.openxmlformats.org/officeDocument/2006/relationships/slide" Target="slides/slide9.xml"/><Relationship Id="rId37" Type="http://schemas.openxmlformats.org/officeDocument/2006/relationships/font" Target="fonts/Barlow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BarlowLight-italic.fntdata"/><Relationship Id="rId17" Type="http://schemas.openxmlformats.org/officeDocument/2006/relationships/slide" Target="slides/slide11.xml"/><Relationship Id="rId39" Type="http://schemas.openxmlformats.org/officeDocument/2006/relationships/font" Target="fonts/Barlow-bold.fntdata"/><Relationship Id="rId16" Type="http://schemas.openxmlformats.org/officeDocument/2006/relationships/slide" Target="slides/slide10.xml"/><Relationship Id="rId38" Type="http://schemas.openxmlformats.org/officeDocument/2006/relationships/font" Target="fonts/Barlow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1c5ebb7b4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1c5ebb7b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1c5ebb7b48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1c5ebb7b48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1c5ebb7b4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1c5ebb7b4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1d8f1de9d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1d8f1de9d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1d8f1de9d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1d8f1de9d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1c5ebb7b48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1c5ebb7b48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1d8f1de9d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1d8f1de9d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1c5ebb7b4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1c5ebb7b4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d8f1de9d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1d8f1de9d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1d8f1de9d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1d8f1de9d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1d8f1de9d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1d8f1de9d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1d8f1de9d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1d8f1de9d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c5ebb7b48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c5ebb7b48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632850" y="120585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r>
              <a:rPr lang="en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of SpMV Algorithm on HPC</a:t>
            </a:r>
            <a:endParaRPr sz="4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4800"/>
          </a:p>
        </p:txBody>
      </p:sp>
      <p:sp>
        <p:nvSpPr>
          <p:cNvPr id="372" name="Google Shape;372;p59"/>
          <p:cNvSpPr txBox="1"/>
          <p:nvPr>
            <p:ph idx="2" type="subTitle"/>
          </p:nvPr>
        </p:nvSpPr>
        <p:spPr>
          <a:xfrm>
            <a:off x="2843925" y="30648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Alex Chambers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78" name="Google Shape;378;p60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What is this method?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Why this method?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Why use High </a:t>
            </a: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 Computing?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</a:t>
            </a:r>
            <a:endParaRPr/>
          </a:p>
        </p:txBody>
      </p:sp>
      <p:sp>
        <p:nvSpPr>
          <p:cNvPr id="384" name="Google Shape;384;p61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This method utilizes CSR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Types of SpMV algorithms</a:t>
            </a:r>
            <a:endParaRPr/>
          </a:p>
        </p:txBody>
      </p:sp>
      <p:pic>
        <p:nvPicPr>
          <p:cNvPr id="385" name="Google Shape;38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513" y="2334872"/>
            <a:ext cx="4979224" cy="15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</a:t>
            </a:r>
            <a:endParaRPr/>
          </a:p>
        </p:txBody>
      </p:sp>
      <p:sp>
        <p:nvSpPr>
          <p:cNvPr id="391" name="Google Shape;391;p62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This method can be broken into five major steps: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Initialization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Data Loading and Multiplication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Summation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/>
          </a:p>
        </p:txBody>
      </p:sp>
      <p:sp>
        <p:nvSpPr>
          <p:cNvPr id="392" name="Google Shape;392;p6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3" name="Google Shape;39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4460" y="0"/>
            <a:ext cx="338953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</a:t>
            </a:r>
            <a:endParaRPr/>
          </a:p>
        </p:txBody>
      </p:sp>
      <p:sp>
        <p:nvSpPr>
          <p:cNvPr id="399" name="Google Shape;399;p63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This method can be broken into five major steps: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Initialization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Data Loading and Multiplication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Summation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/>
          </a:p>
        </p:txBody>
      </p:sp>
      <p:sp>
        <p:nvSpPr>
          <p:cNvPr id="400" name="Google Shape;400;p6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1" name="Google Shape;40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054" y="0"/>
            <a:ext cx="277394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4"/>
          <p:cNvSpPr txBox="1"/>
          <p:nvPr>
            <p:ph idx="2" type="title"/>
          </p:nvPr>
        </p:nvSpPr>
        <p:spPr>
          <a:xfrm>
            <a:off x="1411650" y="2114250"/>
            <a:ext cx="6320700" cy="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Implementation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5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412" name="Google Shape;412;p65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Utilizing both MPI and OpenMP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Treating each device with MPI as a workgroup/block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Utilizing two </a:t>
            </a: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 for overhead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6"/>
          <p:cNvSpPr txBox="1"/>
          <p:nvPr>
            <p:ph idx="2" type="title"/>
          </p:nvPr>
        </p:nvSpPr>
        <p:spPr>
          <a:xfrm>
            <a:off x="1411650" y="1656900"/>
            <a:ext cx="63207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Current Implementation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7"/>
          <p:cNvSpPr txBox="1"/>
          <p:nvPr>
            <p:ph idx="1" type="subTitle"/>
          </p:nvPr>
        </p:nvSpPr>
        <p:spPr>
          <a:xfrm>
            <a:off x="791150" y="522625"/>
            <a:ext cx="6670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Implementation</a:t>
            </a:r>
            <a:endParaRPr/>
          </a:p>
        </p:txBody>
      </p:sp>
      <p:sp>
        <p:nvSpPr>
          <p:cNvPr id="423" name="Google Shape;423;p67"/>
          <p:cNvSpPr txBox="1"/>
          <p:nvPr>
            <p:ph idx="2" type="body"/>
          </p:nvPr>
        </p:nvSpPr>
        <p:spPr>
          <a:xfrm>
            <a:off x="810075" y="2065225"/>
            <a:ext cx="73308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Have successfully implement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Works with any number of devices and threads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Currently need to write matrix/vector into file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8"/>
          <p:cNvSpPr txBox="1"/>
          <p:nvPr>
            <p:ph idx="1" type="subTitle"/>
          </p:nvPr>
        </p:nvSpPr>
        <p:spPr>
          <a:xfrm>
            <a:off x="791150" y="522625"/>
            <a:ext cx="6670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Implementation</a:t>
            </a:r>
            <a:endParaRPr/>
          </a:p>
        </p:txBody>
      </p:sp>
      <p:pic>
        <p:nvPicPr>
          <p:cNvPr id="429" name="Google Shape;42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75" y="1630825"/>
            <a:ext cx="3725246" cy="351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1125" y="1630825"/>
            <a:ext cx="4567012" cy="35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/>
          <p:nvPr>
            <p:ph idx="1" type="subTitle"/>
          </p:nvPr>
        </p:nvSpPr>
        <p:spPr>
          <a:xfrm>
            <a:off x="791150" y="522625"/>
            <a:ext cx="6670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Implementation</a:t>
            </a:r>
            <a:endParaRPr/>
          </a:p>
        </p:txBody>
      </p:sp>
      <p:pic>
        <p:nvPicPr>
          <p:cNvPr id="436" name="Google Shape;43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30825"/>
            <a:ext cx="5084825" cy="309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4825" y="1630825"/>
            <a:ext cx="4059175" cy="268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0"/>
          <p:cNvSpPr txBox="1"/>
          <p:nvPr>
            <p:ph idx="1" type="subTitle"/>
          </p:nvPr>
        </p:nvSpPr>
        <p:spPr>
          <a:xfrm>
            <a:off x="791150" y="522625"/>
            <a:ext cx="66705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Implementation</a:t>
            </a:r>
            <a:endParaRPr/>
          </a:p>
        </p:txBody>
      </p:sp>
      <p:sp>
        <p:nvSpPr>
          <p:cNvPr id="443" name="Google Shape;443;p70"/>
          <p:cNvSpPr txBox="1"/>
          <p:nvPr>
            <p:ph idx="2" type="body"/>
          </p:nvPr>
        </p:nvSpPr>
        <p:spPr>
          <a:xfrm>
            <a:off x="698700" y="1901725"/>
            <a:ext cx="77466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Read matrix/vector from file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Reduce overhead devices to one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Develop more </a:t>
            </a: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rigorous</a:t>
            </a: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 testing method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A6E67"/>
              </a:buClr>
              <a:buSzPts val="1600"/>
              <a:buFont typeface="Arial"/>
              <a:buChar char="➢"/>
            </a:pPr>
            <a:r>
              <a:rPr lang="en" sz="1600">
                <a:solidFill>
                  <a:srgbClr val="7A6E67"/>
                </a:solidFill>
                <a:latin typeface="Arial"/>
                <a:ea typeface="Arial"/>
                <a:cs typeface="Arial"/>
                <a:sym typeface="Arial"/>
              </a:rPr>
              <a:t>Test using data sets from SuiteSparse Matrix Collection</a:t>
            </a:r>
            <a:endParaRPr sz="1600">
              <a:solidFill>
                <a:srgbClr val="7A6E6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1"/>
          <p:cNvSpPr txBox="1"/>
          <p:nvPr>
            <p:ph idx="2" type="title"/>
          </p:nvPr>
        </p:nvSpPr>
        <p:spPr>
          <a:xfrm>
            <a:off x="2209950" y="1886100"/>
            <a:ext cx="47241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Questions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